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876720">
            <a:off x="13114277" y="1366838"/>
            <a:ext cx="2300716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3909300">
            <a:off x="14693198" y="2098358"/>
            <a:ext cx="2251843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3786540">
            <a:off x="12467882" y="2738438"/>
            <a:ext cx="2496226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1228920">
            <a:off x="14179820" y="3469958"/>
            <a:ext cx="2181330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2897940">
            <a:off x="12409627" y="4658678"/>
            <a:ext cx="2246995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437940">
            <a:off x="13690559" y="4841558"/>
            <a:ext cx="2428313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-2442900">
            <a:off x="15319458" y="5298758"/>
            <a:ext cx="1730845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255020">
            <a:off x="15663024" y="3927158"/>
            <a:ext cx="1775222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89119">
            <a:off x="12771558" y="5664518"/>
            <a:ext cx="2803274" cy="0"/>
          </a:xfrm>
          <a:prstGeom prst="line">
            <a:avLst/>
          </a:prstGeom>
          <a:ln cap="rnd" w="9525">
            <a:solidFill>
              <a:srgbClr val="4C8D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2892278" y="1370838"/>
            <a:ext cx="550164" cy="550164"/>
            <a:chOff x="0" y="0"/>
            <a:chExt cx="733552" cy="7335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086838" y="822198"/>
            <a:ext cx="550164" cy="550164"/>
            <a:chOff x="0" y="0"/>
            <a:chExt cx="733552" cy="7335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001238" y="2833878"/>
            <a:ext cx="550164" cy="550164"/>
            <a:chOff x="0" y="0"/>
            <a:chExt cx="733552" cy="7335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989558" y="3565398"/>
            <a:ext cx="550164" cy="550164"/>
            <a:chOff x="0" y="0"/>
            <a:chExt cx="733552" cy="7335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4C8DF6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526518" y="5211318"/>
            <a:ext cx="550164" cy="550164"/>
            <a:chOff x="0" y="0"/>
            <a:chExt cx="733552" cy="7335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5269718" y="5577078"/>
            <a:ext cx="550164" cy="550164"/>
            <a:chOff x="0" y="0"/>
            <a:chExt cx="733552" cy="7335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549878" y="4479798"/>
            <a:ext cx="550164" cy="550164"/>
            <a:chOff x="0" y="0"/>
            <a:chExt cx="733552" cy="7335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3552" cy="733552"/>
            </a:xfrm>
            <a:custGeom>
              <a:avLst/>
              <a:gdLst/>
              <a:ahLst/>
              <a:cxnLst/>
              <a:rect r="r" b="b" t="t" l="l"/>
              <a:pathLst>
                <a:path h="733552" w="733552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cubicBezTo>
                    <a:pt x="569341" y="0"/>
                    <a:pt x="733552" y="164211"/>
                    <a:pt x="733552" y="366776"/>
                  </a:cubicBezTo>
                  <a:cubicBezTo>
                    <a:pt x="733552" y="569341"/>
                    <a:pt x="569341" y="733552"/>
                    <a:pt x="366776" y="733552"/>
                  </a:cubicBezTo>
                  <a:cubicBezTo>
                    <a:pt x="164211" y="733552"/>
                    <a:pt x="0" y="569341"/>
                    <a:pt x="0" y="366776"/>
                  </a:cubicBezTo>
                  <a:close/>
                </a:path>
              </a:pathLst>
            </a:custGeom>
            <a:solidFill>
              <a:srgbClr val="DCE9FB"/>
            </a:solidFill>
            <a:ln w="38100" cap="sq">
              <a:solidFill>
                <a:srgbClr val="1F6FEB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14400" y="1531620"/>
            <a:ext cx="11338560" cy="322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GNN-BASED DYNAMIC USER PAIRING AND SLOT ASSIGNMENT FOR HYBRID NOMA NETWORKS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4937760"/>
            <a:ext cx="10972800" cy="914400"/>
            <a:chOff x="0" y="0"/>
            <a:chExt cx="146304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4630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8DB8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Project Review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" y="6517005"/>
            <a:ext cx="153619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DCE9F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 :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Monica Raghini Chelle (2520040093)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S. Asritha (2520040114)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Bagili Akshaya (2520040084)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					 </a:t>
            </a:r>
            <a:r>
              <a:rPr lang="en-US" sz="2799" b="true">
                <a:solidFill>
                  <a:srgbClr val="DCE9F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Guide Name :  </a:t>
            </a: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N. L. Lava Prasad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DCE9F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Department :</a:t>
            </a: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 Electronics and Communication Engineering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   </a:t>
            </a:r>
            <a:r>
              <a:rPr lang="en-US" sz="2799" b="true">
                <a:solidFill>
                  <a:srgbClr val="DCE9F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Academic year :  </a:t>
            </a:r>
            <a:r>
              <a:rPr lang="en-US" sz="2799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2026-27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to the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181863"/>
            <a:ext cx="5328923" cy="2768603"/>
            <a:chOff x="0" y="0"/>
            <a:chExt cx="7105231" cy="3691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2194560"/>
            <a:ext cx="5120640" cy="2743200"/>
            <a:chOff x="0" y="0"/>
            <a:chExt cx="6827520" cy="365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user per slot; simple but limits spectral efficiency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70983" y="2181863"/>
            <a:ext cx="5328923" cy="2768603"/>
            <a:chOff x="0" y="0"/>
            <a:chExt cx="7105231" cy="3691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675120" y="2194560"/>
            <a:ext cx="5120640" cy="2743200"/>
            <a:chOff x="0" y="0"/>
            <a:chExt cx="682752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PD-NOMA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share a slot by power levels; SIC separates them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0263" y="2181863"/>
            <a:ext cx="5328923" cy="2768603"/>
            <a:chOff x="0" y="0"/>
            <a:chExt cx="7105231" cy="3691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0" y="2194560"/>
            <a:ext cx="5120640" cy="2743200"/>
            <a:chOff x="0" y="0"/>
            <a:chExt cx="682752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SCMA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Sparse codebooks; MPA detector recovers users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5511165"/>
            <a:ext cx="16459200" cy="390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Hybrid NOMA combines PD-NOMA and SCMA across slots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Which users to pair, and in which slot, drives the sum rate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uses a graph neural network to learn pairing and slot preferences from user and channel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127885"/>
            <a:ext cx="9144000" cy="719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Choosing user pairs and slots for hybrid NOMA is a combinatorial problem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Pairing the wrong users raises interference and lowers the sum rate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Channel gains differ widely between users, so good pairs are not obvious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Slots are limited: one allocation per slot, spare slots stay idle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Fixed heuristics do not adapt to changing channels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77223" y="2181863"/>
            <a:ext cx="6609083" cy="2037083"/>
            <a:chOff x="0" y="0"/>
            <a:chExt cx="8812111" cy="2716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12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88120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8614537" y="0"/>
                  </a:lnTo>
                  <a:cubicBezTo>
                    <a:pt x="8723630" y="0"/>
                    <a:pt x="8812022" y="88392"/>
                    <a:pt x="8812022" y="197485"/>
                  </a:cubicBezTo>
                  <a:lnTo>
                    <a:pt x="8812022" y="2518537"/>
                  </a:lnTo>
                  <a:cubicBezTo>
                    <a:pt x="8812022" y="2627630"/>
                    <a:pt x="8723630" y="2716022"/>
                    <a:pt x="86145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881360" y="2194560"/>
            <a:ext cx="6400800" cy="2011680"/>
            <a:chOff x="0" y="0"/>
            <a:chExt cx="853440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53440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Interference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between paired users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77223" y="4559303"/>
            <a:ext cx="6609083" cy="2037083"/>
            <a:chOff x="0" y="0"/>
            <a:chExt cx="8812111" cy="271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12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88120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8614537" y="0"/>
                  </a:lnTo>
                  <a:cubicBezTo>
                    <a:pt x="8723630" y="0"/>
                    <a:pt x="8812022" y="88392"/>
                    <a:pt x="8812022" y="197485"/>
                  </a:cubicBezTo>
                  <a:lnTo>
                    <a:pt x="8812022" y="2518537"/>
                  </a:lnTo>
                  <a:cubicBezTo>
                    <a:pt x="8812022" y="2627630"/>
                    <a:pt x="8723630" y="2716022"/>
                    <a:pt x="86145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881360" y="4572000"/>
            <a:ext cx="6400800" cy="2011680"/>
            <a:chOff x="0" y="0"/>
            <a:chExt cx="8534400" cy="2682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34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53440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Channel-gain gap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near-far differences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77223" y="6936743"/>
            <a:ext cx="6609083" cy="2037083"/>
            <a:chOff x="0" y="0"/>
            <a:chExt cx="8812111" cy="2716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12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8812022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8614537" y="0"/>
                  </a:lnTo>
                  <a:cubicBezTo>
                    <a:pt x="8723630" y="0"/>
                    <a:pt x="8812022" y="88392"/>
                    <a:pt x="8812022" y="197485"/>
                  </a:cubicBezTo>
                  <a:lnTo>
                    <a:pt x="8812022" y="2518537"/>
                  </a:lnTo>
                  <a:cubicBezTo>
                    <a:pt x="8812022" y="2627630"/>
                    <a:pt x="8723630" y="2716022"/>
                    <a:pt x="8614537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881360" y="6949440"/>
            <a:ext cx="6400800" cy="2011680"/>
            <a:chOff x="0" y="0"/>
            <a:chExt cx="8534400" cy="2682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34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853440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Slot limits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allocation per slot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 of the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547623"/>
            <a:ext cx="939803" cy="939803"/>
            <a:chOff x="0" y="0"/>
            <a:chExt cx="1253071" cy="1253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560320"/>
            <a:ext cx="914400" cy="914400"/>
            <a:chOff x="0" y="0"/>
            <a:chExt cx="12192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90423" y="2364743"/>
            <a:ext cx="6334763" cy="2768603"/>
            <a:chOff x="0" y="0"/>
            <a:chExt cx="8446351" cy="3691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46389" cy="3691509"/>
            </a:xfrm>
            <a:custGeom>
              <a:avLst/>
              <a:gdLst/>
              <a:ahLst/>
              <a:cxnLst/>
              <a:rect r="r" b="b" t="t" l="l"/>
              <a:pathLst>
                <a:path h="3691509" w="844638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8249539" y="0"/>
                  </a:lnTo>
                  <a:cubicBezTo>
                    <a:pt x="8358251" y="0"/>
                    <a:pt x="8446389" y="88138"/>
                    <a:pt x="8446389" y="196850"/>
                  </a:cubicBezTo>
                  <a:lnTo>
                    <a:pt x="8446389" y="3494659"/>
                  </a:lnTo>
                  <a:cubicBezTo>
                    <a:pt x="8446389" y="3603371"/>
                    <a:pt x="8358251" y="3691509"/>
                    <a:pt x="824953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194560" y="2377440"/>
            <a:ext cx="6126480" cy="2743200"/>
            <a:chOff x="0" y="0"/>
            <a:chExt cx="816864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68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816864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Represent users and channel relations as a graph for a hybrid NOMA cell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14183" y="2547623"/>
            <a:ext cx="939803" cy="939803"/>
            <a:chOff x="0" y="0"/>
            <a:chExt cx="1253071" cy="12530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26880" y="2560320"/>
            <a:ext cx="914400" cy="914400"/>
            <a:chOff x="0" y="0"/>
            <a:chExt cx="12192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02903" y="2364743"/>
            <a:ext cx="6334763" cy="2768603"/>
            <a:chOff x="0" y="0"/>
            <a:chExt cx="8446351" cy="3691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46389" cy="3691509"/>
            </a:xfrm>
            <a:custGeom>
              <a:avLst/>
              <a:gdLst/>
              <a:ahLst/>
              <a:cxnLst/>
              <a:rect r="r" b="b" t="t" l="l"/>
              <a:pathLst>
                <a:path h="3691509" w="844638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8249539" y="0"/>
                  </a:lnTo>
                  <a:cubicBezTo>
                    <a:pt x="8358251" y="0"/>
                    <a:pt x="8446389" y="88138"/>
                    <a:pt x="8446389" y="196850"/>
                  </a:cubicBezTo>
                  <a:lnTo>
                    <a:pt x="8446389" y="3494659"/>
                  </a:lnTo>
                  <a:cubicBezTo>
                    <a:pt x="8446389" y="3603371"/>
                    <a:pt x="8358251" y="3691509"/>
                    <a:pt x="824953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607040" y="2377440"/>
            <a:ext cx="6126480" cy="2743200"/>
            <a:chOff x="0" y="0"/>
            <a:chExt cx="8168640" cy="3657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68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816864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 user pairing and slot assignment with an edge-aware GNN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6022343"/>
            <a:ext cx="939803" cy="939803"/>
            <a:chOff x="0" y="0"/>
            <a:chExt cx="1253071" cy="12530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6035040"/>
            <a:ext cx="914400" cy="914400"/>
            <a:chOff x="0" y="0"/>
            <a:chExt cx="121920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90423" y="5839463"/>
            <a:ext cx="6334763" cy="2768603"/>
            <a:chOff x="0" y="0"/>
            <a:chExt cx="8446351" cy="36914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46389" cy="3691509"/>
            </a:xfrm>
            <a:custGeom>
              <a:avLst/>
              <a:gdLst/>
              <a:ahLst/>
              <a:cxnLst/>
              <a:rect r="r" b="b" t="t" l="l"/>
              <a:pathLst>
                <a:path h="3691509" w="844638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8249539" y="0"/>
                  </a:lnTo>
                  <a:cubicBezTo>
                    <a:pt x="8358251" y="0"/>
                    <a:pt x="8446389" y="88138"/>
                    <a:pt x="8446389" y="196850"/>
                  </a:cubicBezTo>
                  <a:lnTo>
                    <a:pt x="8446389" y="3494659"/>
                  </a:lnTo>
                  <a:cubicBezTo>
                    <a:pt x="8446389" y="3603371"/>
                    <a:pt x="8358251" y="3691509"/>
                    <a:pt x="824953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2194560" y="5852160"/>
            <a:ext cx="6126480" cy="2743200"/>
            <a:chOff x="0" y="0"/>
            <a:chExt cx="8168640" cy="3657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68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816864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against OMA, Random, Near-Far, Greedy and Optimization Reference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14183" y="6022343"/>
            <a:ext cx="939803" cy="939803"/>
            <a:chOff x="0" y="0"/>
            <a:chExt cx="1253071" cy="12530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326880" y="6035040"/>
            <a:ext cx="914400" cy="914400"/>
            <a:chOff x="0" y="0"/>
            <a:chExt cx="121920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502903" y="5839463"/>
            <a:ext cx="6334763" cy="2768603"/>
            <a:chOff x="0" y="0"/>
            <a:chExt cx="8446351" cy="36914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46389" cy="3691509"/>
            </a:xfrm>
            <a:custGeom>
              <a:avLst/>
              <a:gdLst/>
              <a:ahLst/>
              <a:cxnLst/>
              <a:rect r="r" b="b" t="t" l="l"/>
              <a:pathLst>
                <a:path h="3691509" w="844638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8249539" y="0"/>
                  </a:lnTo>
                  <a:cubicBezTo>
                    <a:pt x="8358251" y="0"/>
                    <a:pt x="8446389" y="88138"/>
                    <a:pt x="8446389" y="196850"/>
                  </a:cubicBezTo>
                  <a:lnTo>
                    <a:pt x="8446389" y="3494659"/>
                  </a:lnTo>
                  <a:cubicBezTo>
                    <a:pt x="8446389" y="3603371"/>
                    <a:pt x="8358251" y="3691509"/>
                    <a:pt x="824953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607040" y="5852160"/>
            <a:ext cx="6126480" cy="2743200"/>
            <a:chOff x="0" y="0"/>
            <a:chExt cx="8168640" cy="3657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68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49" t="0" r="-744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816864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sum rate, fairness and outage from seeded, reproducible runs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Literature Survey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16433800" cy="7299962"/>
        </p:xfrm>
        <a:graphic>
          <a:graphicData uri="http://schemas.openxmlformats.org/drawingml/2006/table">
            <a:tbl>
              <a:tblPr/>
              <a:tblGrid>
                <a:gridCol w="5127043"/>
                <a:gridCol w="11306757"/>
              </a:tblGrid>
              <a:tr h="761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Work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Contribution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11194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Ding et al., 2017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Surveyed NOMA fundamentals, research challenges, and future trends for 5G networks.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30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Ding, Fan &amp; Poor, 2016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Studied how user-pairing strategies affect downlink NOMA performance.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0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Shen et al., 2021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Investigated GNN architectures for scalable wireless radio resource management.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30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IEEE Access, 2020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Examined user selection and resource allocation in multicarrier NOMA systems.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0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IEEE Transactions on Vehicular Technology, 2020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Studied pairing distance and power control for improving NOMA connectivity.</a:t>
                      </a:r>
                      <a:endParaRPr lang="en-US" sz="1100"/>
                    </a:p>
                    <a:p>
                      <a:pPr algn="l">
                        <a:lnSpc>
                          <a:spcPts val="308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6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This project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GNN-learned pairing and slot assignment for hybrid PD-NOMA / SCMA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028700" y="9555480"/>
            <a:ext cx="16459200" cy="731520"/>
            <a:chOff x="0" y="0"/>
            <a:chExt cx="21945600" cy="97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Details are in the references slide. Add any further papers you used.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System and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2181863"/>
            <a:ext cx="2311403" cy="1488443"/>
            <a:chOff x="0" y="0"/>
            <a:chExt cx="3081871" cy="1984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194560"/>
            <a:ext cx="2103120" cy="1463040"/>
            <a:chOff x="0" y="0"/>
            <a:chExt cx="280416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 parameters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17520" y="2468880"/>
            <a:ext cx="548640" cy="914400"/>
            <a:chOff x="0" y="0"/>
            <a:chExt cx="7315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90039" y="2181863"/>
            <a:ext cx="2311403" cy="1488443"/>
            <a:chOff x="0" y="0"/>
            <a:chExt cx="3081871" cy="19845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694176" y="2194560"/>
            <a:ext cx="2103120" cy="1463040"/>
            <a:chOff x="0" y="0"/>
            <a:chExt cx="280416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construction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88736" y="2468880"/>
            <a:ext cx="548640" cy="914400"/>
            <a:chOff x="0" y="0"/>
            <a:chExt cx="73152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61255" y="2181863"/>
            <a:ext cx="2311403" cy="1488443"/>
            <a:chOff x="0" y="0"/>
            <a:chExt cx="3081871" cy="19845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65392" y="2194560"/>
            <a:ext cx="2103120" cy="1463040"/>
            <a:chOff x="0" y="0"/>
            <a:chExt cx="280416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processing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59952" y="2468880"/>
            <a:ext cx="548640" cy="914400"/>
            <a:chOff x="0" y="0"/>
            <a:chExt cx="7315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2471" y="2181863"/>
            <a:ext cx="2311403" cy="1488443"/>
            <a:chOff x="0" y="0"/>
            <a:chExt cx="3081871" cy="19845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36608" y="2194560"/>
            <a:ext cx="2103120" cy="1463040"/>
            <a:chOff x="0" y="0"/>
            <a:chExt cx="280416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pairing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631168" y="2468880"/>
            <a:ext cx="548640" cy="914400"/>
            <a:chOff x="0" y="0"/>
            <a:chExt cx="7315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03687" y="2181863"/>
            <a:ext cx="2311403" cy="1488443"/>
            <a:chOff x="0" y="0"/>
            <a:chExt cx="3081871" cy="19845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07824" y="2194560"/>
            <a:ext cx="2103120" cy="1463040"/>
            <a:chOff x="0" y="0"/>
            <a:chExt cx="280416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Slot assignment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502384" y="2468880"/>
            <a:ext cx="548640" cy="914400"/>
            <a:chOff x="0" y="0"/>
            <a:chExt cx="73152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74903" y="2181863"/>
            <a:ext cx="2311403" cy="1488443"/>
            <a:chOff x="0" y="0"/>
            <a:chExt cx="3081871" cy="19845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5179040" y="2194560"/>
            <a:ext cx="2103120" cy="1463040"/>
            <a:chOff x="0" y="0"/>
            <a:chExt cx="2804160" cy="1950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 evaluation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4389120"/>
            <a:ext cx="7863840" cy="640080"/>
            <a:chOff x="0" y="0"/>
            <a:chExt cx="1048512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04851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model and GNN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14400" y="5053965"/>
            <a:ext cx="7863840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Nodes: users with x, y, distance, channel gain (linear, dB), SNR, minimum rate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Edge features feed an edge-aware GNN (HybridNOMAGNN)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Outputs: pair affinities and slot-preference logits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509760" y="4389120"/>
            <a:ext cx="7863840" cy="640080"/>
            <a:chOff x="0" y="0"/>
            <a:chExt cx="1048512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04851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PD-NOMA and SCMA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509760" y="5053965"/>
            <a:ext cx="7863840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PD-NOMA: paired users share a slot with SIC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SCMA: MPA detector, BER and SER vs. SNR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Hybrid scheduler picks a feasible mode per slot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Layer sizes and edge definition: [from gnn_model]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and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181863"/>
            <a:ext cx="720347" cy="720347"/>
            <a:chOff x="0" y="0"/>
            <a:chExt cx="960463" cy="9604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694944" cy="694944"/>
            <a:chOff x="0" y="0"/>
            <a:chExt cx="926592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20240" y="2194560"/>
            <a:ext cx="8046720" cy="694944"/>
            <a:chOff x="0" y="0"/>
            <a:chExt cx="1072896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 scenarios (synthetic or CSV); split train / val / test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224279"/>
            <a:ext cx="720347" cy="720347"/>
            <a:chOff x="0" y="0"/>
            <a:chExt cx="960463" cy="960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3236976"/>
            <a:ext cx="694944" cy="694944"/>
            <a:chOff x="0" y="0"/>
            <a:chExt cx="926592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20240" y="3236976"/>
            <a:ext cx="8046720" cy="694944"/>
            <a:chOff x="0" y="0"/>
            <a:chExt cx="1072896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 per-user features; build user graph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1703" y="4266695"/>
            <a:ext cx="720347" cy="720347"/>
            <a:chOff x="0" y="0"/>
            <a:chExt cx="960463" cy="9604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4279392"/>
            <a:ext cx="694944" cy="694944"/>
            <a:chOff x="0" y="0"/>
            <a:chExt cx="926592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4279392"/>
            <a:ext cx="8046720" cy="694944"/>
            <a:chOff x="0" y="0"/>
            <a:chExt cx="1072896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Label scenarios with a combinatorial oracle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5309111"/>
            <a:ext cx="720347" cy="720347"/>
            <a:chOff x="0" y="0"/>
            <a:chExt cx="960463" cy="9604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5321808"/>
            <a:ext cx="694944" cy="694944"/>
            <a:chOff x="0" y="0"/>
            <a:chExt cx="926592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20240" y="5321808"/>
            <a:ext cx="8046720" cy="694944"/>
            <a:chOff x="0" y="0"/>
            <a:chExt cx="1072896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GNN; keep best validation checkpoint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6351527"/>
            <a:ext cx="720347" cy="720347"/>
            <a:chOff x="0" y="0"/>
            <a:chExt cx="960463" cy="9604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" y="6364224"/>
            <a:ext cx="694944" cy="694944"/>
            <a:chOff x="0" y="0"/>
            <a:chExt cx="926592" cy="926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20240" y="6364224"/>
            <a:ext cx="8046720" cy="694944"/>
            <a:chOff x="0" y="0"/>
            <a:chExt cx="10728960" cy="926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Pairing from affinities; slots from logits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1703" y="7393943"/>
            <a:ext cx="720347" cy="720347"/>
            <a:chOff x="0" y="0"/>
            <a:chExt cx="960463" cy="9604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406640"/>
            <a:ext cx="694944" cy="694944"/>
            <a:chOff x="0" y="0"/>
            <a:chExt cx="926592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20240" y="7406640"/>
            <a:ext cx="8046720" cy="694944"/>
            <a:chOff x="0" y="0"/>
            <a:chExt cx="1072896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 schedule: PD-NOMA, SCMA or OMA single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1703" y="8436359"/>
            <a:ext cx="720347" cy="720347"/>
            <a:chOff x="0" y="0"/>
            <a:chExt cx="960463" cy="9604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0501" cy="960501"/>
            </a:xfrm>
            <a:custGeom>
              <a:avLst/>
              <a:gdLst/>
              <a:ahLst/>
              <a:cxnLst/>
              <a:rect r="r" b="b" t="t" l="l"/>
              <a:pathLst>
                <a:path h="960501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cubicBezTo>
                    <a:pt x="745363" y="0"/>
                    <a:pt x="960501" y="215011"/>
                    <a:pt x="960501" y="480187"/>
                  </a:cubicBezTo>
                  <a:cubicBezTo>
                    <a:pt x="960501" y="745363"/>
                    <a:pt x="745490" y="960501"/>
                    <a:pt x="480187" y="960501"/>
                  </a:cubicBezTo>
                  <a:cubicBezTo>
                    <a:pt x="214884" y="960501"/>
                    <a:pt x="0" y="745490"/>
                    <a:pt x="0" y="480187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" y="8449056"/>
            <a:ext cx="694944" cy="694944"/>
            <a:chOff x="0" y="0"/>
            <a:chExt cx="926592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920240" y="8449056"/>
            <a:ext cx="8046720" cy="694944"/>
            <a:chOff x="0" y="0"/>
            <a:chExt cx="10728960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 rate, fairness, outage vs. baselines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607040" y="2103120"/>
            <a:ext cx="6766560" cy="640080"/>
            <a:chOff x="0" y="0"/>
            <a:chExt cx="902208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902208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 and rules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607040" y="2767965"/>
            <a:ext cx="6766560" cy="665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Objective: sum rate; fairness and outage reported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One allocation per slot; spare slots idle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Final slots: rule-based conflict resolution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Baselines: OMA, Random, Near-Far, Greedy, Optimization Reference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and Simulation Setup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9474200" cy="6096000"/>
        </p:xfrm>
        <a:graphic>
          <a:graphicData uri="http://schemas.openxmlformats.org/drawingml/2006/table">
            <a:tbl>
              <a:tblPr/>
              <a:tblGrid>
                <a:gridCol w="4375604"/>
                <a:gridCol w="5098596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Parameter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 (CLI default)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users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slots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Training epochs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seed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source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synthetic (or CSV)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/ val / test sizes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[from config.yaml]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Channel model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[from channel_model]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155680" y="2194560"/>
            <a:ext cx="6217920" cy="640080"/>
            <a:chOff x="0" y="0"/>
            <a:chExt cx="8290560" cy="853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90560" cy="853440"/>
            </a:xfrm>
            <a:custGeom>
              <a:avLst/>
              <a:gdLst/>
              <a:ahLst/>
              <a:cxnLst/>
              <a:rect r="r" b="b" t="t" l="l"/>
              <a:pathLst>
                <a:path h="8534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2905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and splits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155680" y="2859405"/>
            <a:ext cx="6217920" cy="518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Synthetic topologies with oracle labels, or per-user CSV scenarios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Separate seeds for train, validation and test sets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Same test topologies for all methods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8686800"/>
            <a:ext cx="16459200" cy="731520"/>
            <a:chOff x="0" y="0"/>
            <a:chExt cx="219456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Defaults are from main.py; confirm they match the recorded run.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and Technologies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364743"/>
            <a:ext cx="5328923" cy="2768603"/>
            <a:chOff x="0" y="0"/>
            <a:chExt cx="7105231" cy="3691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2377440"/>
            <a:ext cx="5120640" cy="2743200"/>
            <a:chOff x="0" y="0"/>
            <a:chExt cx="6827520" cy="365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70983" y="2364743"/>
            <a:ext cx="5328923" cy="2768603"/>
            <a:chOff x="0" y="0"/>
            <a:chExt cx="7105231" cy="3691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675120" y="2377440"/>
            <a:ext cx="5120640" cy="2743200"/>
            <a:chOff x="0" y="0"/>
            <a:chExt cx="682752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PyTorch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GNN model and training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0263" y="2364743"/>
            <a:ext cx="5328923" cy="2768603"/>
            <a:chOff x="0" y="0"/>
            <a:chExt cx="7105231" cy="3691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0" y="2377440"/>
            <a:ext cx="5120640" cy="2743200"/>
            <a:chOff x="0" y="0"/>
            <a:chExt cx="682752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pandas, NumPy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and metrics tables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5656583"/>
            <a:ext cx="5328923" cy="2768603"/>
            <a:chOff x="0" y="0"/>
            <a:chExt cx="7105231" cy="3691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5669280"/>
            <a:ext cx="5120640" cy="2743200"/>
            <a:chOff x="0" y="0"/>
            <a:chExt cx="6827520" cy="3657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scikit-learn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Scaling, regression, clustering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70983" y="5656583"/>
            <a:ext cx="5328923" cy="2768603"/>
            <a:chOff x="0" y="0"/>
            <a:chExt cx="7105231" cy="36914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675120" y="5669280"/>
            <a:ext cx="5120640" cy="2743200"/>
            <a:chOff x="0" y="0"/>
            <a:chExt cx="6827520" cy="365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Matplotlib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Figures and plots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40263" y="5656583"/>
            <a:ext cx="5328923" cy="2768603"/>
            <a:chOff x="0" y="0"/>
            <a:chExt cx="7105231" cy="36914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052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1052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908419" y="0"/>
                  </a:lnTo>
                  <a:cubicBezTo>
                    <a:pt x="7017131" y="0"/>
                    <a:pt x="7105269" y="88138"/>
                    <a:pt x="7105269" y="196850"/>
                  </a:cubicBezTo>
                  <a:lnTo>
                    <a:pt x="7105269" y="3494659"/>
                  </a:lnTo>
                  <a:cubicBezTo>
                    <a:pt x="7105269" y="3603371"/>
                    <a:pt x="7017131" y="3691509"/>
                    <a:pt x="690841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0" y="5669280"/>
            <a:ext cx="5120640" cy="2743200"/>
            <a:chOff x="0" y="0"/>
            <a:chExt cx="6827520" cy="3657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6827520" cy="372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argparse, YAML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B1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 and config.yaml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of the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2181863"/>
            <a:ext cx="2311403" cy="1488443"/>
            <a:chOff x="0" y="0"/>
            <a:chExt cx="3081871" cy="1984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194560"/>
            <a:ext cx="2103120" cy="1463040"/>
            <a:chOff x="0" y="0"/>
            <a:chExt cx="280416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data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17520" y="2468880"/>
            <a:ext cx="548640" cy="914400"/>
            <a:chOff x="0" y="0"/>
            <a:chExt cx="7315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90039" y="2181863"/>
            <a:ext cx="2311403" cy="1488443"/>
            <a:chOff x="0" y="0"/>
            <a:chExt cx="3081871" cy="19845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694176" y="2194560"/>
            <a:ext cx="2103120" cy="1463040"/>
            <a:chOff x="0" y="0"/>
            <a:chExt cx="280416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builder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88736" y="2468880"/>
            <a:ext cx="548640" cy="914400"/>
            <a:chOff x="0" y="0"/>
            <a:chExt cx="73152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61255" y="2181863"/>
            <a:ext cx="2311403" cy="1488443"/>
            <a:chOff x="0" y="0"/>
            <a:chExt cx="3081871" cy="19845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65392" y="2194560"/>
            <a:ext cx="2103120" cy="1463040"/>
            <a:chOff x="0" y="0"/>
            <a:chExt cx="280416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model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59952" y="2468880"/>
            <a:ext cx="548640" cy="914400"/>
            <a:chOff x="0" y="0"/>
            <a:chExt cx="7315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2471" y="2181863"/>
            <a:ext cx="2311403" cy="1488443"/>
            <a:chOff x="0" y="0"/>
            <a:chExt cx="3081871" cy="19845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36608" y="2194560"/>
            <a:ext cx="2103120" cy="1463040"/>
            <a:chOff x="0" y="0"/>
            <a:chExt cx="280416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631168" y="2468880"/>
            <a:ext cx="548640" cy="914400"/>
            <a:chOff x="0" y="0"/>
            <a:chExt cx="7315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03687" y="2181863"/>
            <a:ext cx="2311403" cy="1488443"/>
            <a:chOff x="0" y="0"/>
            <a:chExt cx="3081871" cy="19845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07824" y="2194560"/>
            <a:ext cx="2103120" cy="1463040"/>
            <a:chOff x="0" y="0"/>
            <a:chExt cx="280416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Pair + slot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502384" y="2468880"/>
            <a:ext cx="548640" cy="914400"/>
            <a:chOff x="0" y="0"/>
            <a:chExt cx="73152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31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6F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74903" y="2181863"/>
            <a:ext cx="2311403" cy="1488443"/>
            <a:chOff x="0" y="0"/>
            <a:chExt cx="3081871" cy="19845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819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3081909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2883408" y="0"/>
                  </a:lnTo>
                  <a:cubicBezTo>
                    <a:pt x="2993009" y="0"/>
                    <a:pt x="3081909" y="88900"/>
                    <a:pt x="3081909" y="198501"/>
                  </a:cubicBezTo>
                  <a:lnTo>
                    <a:pt x="3081909" y="1786128"/>
                  </a:lnTo>
                  <a:cubicBezTo>
                    <a:pt x="3081909" y="1895729"/>
                    <a:pt x="2993009" y="1984629"/>
                    <a:pt x="28834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5179040" y="2194560"/>
            <a:ext cx="2103120" cy="1463040"/>
            <a:chOff x="0" y="0"/>
            <a:chExt cx="2804160" cy="1950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04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254" t="0" r="-39254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8041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aphicFrame>
        <p:nvGraphicFramePr>
          <p:cNvPr name="Table 50" id="50"/>
          <p:cNvGraphicFramePr>
            <a:graphicFrameLocks noGrp="true"/>
          </p:cNvGraphicFramePr>
          <p:nvPr/>
        </p:nvGraphicFramePr>
        <p:xfrm>
          <a:off x="914400" y="4023360"/>
          <a:ext cx="10058400" cy="4978400"/>
        </p:xfrm>
        <a:graphic>
          <a:graphicData uri="http://schemas.openxmlformats.org/drawingml/2006/table">
            <a:tbl>
              <a:tblPr/>
              <a:tblGrid>
                <a:gridCol w="4575438"/>
                <a:gridCol w="5482962"/>
              </a:tblGrid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main.py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 entry point, six run modes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channel_model, data_pipeline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Network, scenarios, graphs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gnn_model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HybridNOMAGNN, edge-aware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DatasetGenerator, GNNTrainer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pairing, evaluation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Pairing, schedule, benchmarks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classical_models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Rate regression, clustering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1" id="51"/>
          <p:cNvGrpSpPr/>
          <p:nvPr/>
        </p:nvGrpSpPr>
        <p:grpSpPr>
          <a:xfrm rot="0">
            <a:off x="11521440" y="4023360"/>
            <a:ext cx="5852160" cy="640080"/>
            <a:chOff x="0" y="0"/>
            <a:chExt cx="780288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780288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modes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1521440" y="4688205"/>
            <a:ext cx="5852160" cy="482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train, evaluate, inference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clustering, compare, retrain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Config: config.yaml with CLI overrides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Outputs: results/metrics, results/figures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Training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181863"/>
            <a:ext cx="9169403" cy="6791963"/>
            <a:chOff x="0" y="0"/>
            <a:chExt cx="12225871" cy="9055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25909" cy="9055989"/>
            </a:xfrm>
            <a:custGeom>
              <a:avLst/>
              <a:gdLst/>
              <a:ahLst/>
              <a:cxnLst/>
              <a:rect r="r" b="b" t="t" l="l"/>
              <a:pathLst>
                <a:path h="9055989" w="12225909">
                  <a:moveTo>
                    <a:pt x="0" y="0"/>
                  </a:moveTo>
                  <a:lnTo>
                    <a:pt x="12225909" y="0"/>
                  </a:lnTo>
                  <a:lnTo>
                    <a:pt x="12225909" y="9055989"/>
                  </a:lnTo>
                  <a:lnTo>
                    <a:pt x="0" y="9055989"/>
                  </a:lnTo>
                  <a:close/>
                </a:path>
              </a:pathLst>
            </a:custGeom>
            <a:solidFill>
              <a:srgbClr val="F4F8FE"/>
            </a:solidFill>
            <a:ln w="25400" cap="sq">
              <a:solidFill>
                <a:srgbClr val="1F6FEB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9144000" cy="6766560"/>
            <a:chOff x="0" y="0"/>
            <a:chExt cx="12192000" cy="9022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9022080"/>
            </a:xfrm>
            <a:custGeom>
              <a:avLst/>
              <a:gdLst/>
              <a:ahLst/>
              <a:cxnLst/>
              <a:rect r="r" b="b" t="t" l="l"/>
              <a:pathLst>
                <a:path h="90220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022080"/>
                  </a:lnTo>
                  <a:lnTo>
                    <a:pt x="0" y="902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944" t="0" r="-4494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192000" cy="908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training_loss_curves.png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results/figures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607040" y="2194560"/>
          <a:ext cx="6731000" cy="5632306"/>
        </p:xfrm>
        <a:graphic>
          <a:graphicData uri="http://schemas.openxmlformats.org/drawingml/2006/table">
            <a:tbl>
              <a:tblPr/>
              <a:tblGrid>
                <a:gridCol w="3455447"/>
                <a:gridCol w="3275553"/>
              </a:tblGrid>
              <a:tr h="812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Item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12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Epochs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C2410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 validation loss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1.5596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 validation epoch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67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Stopping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Epoch limit, no early stopping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51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Checkpoint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best_gnn_model.pt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828781" y="3034274"/>
            <a:ext cx="7315219" cy="5058166"/>
            <a:chOff x="0" y="0"/>
            <a:chExt cx="9753625" cy="6744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6744208"/>
            </a:xfrm>
            <a:custGeom>
              <a:avLst/>
              <a:gdLst/>
              <a:ahLst/>
              <a:cxnLst/>
              <a:rect r="r" b="b" t="t" l="l"/>
              <a:pathLst>
                <a:path h="67442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744208"/>
                  </a:lnTo>
                  <a:lnTo>
                    <a:pt x="0" y="6744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16" t="0" r="-5316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Pairing and Slot Assignment Results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16433800" cy="3251200"/>
        </p:xfrm>
        <a:graphic>
          <a:graphicData uri="http://schemas.openxmlformats.org/drawingml/2006/table">
            <a:tbl>
              <a:tblPr/>
              <a:tblGrid>
                <a:gridCol w="2208763"/>
                <a:gridCol w="4741679"/>
                <a:gridCol w="2932453"/>
                <a:gridCol w="6550905"/>
              </a:tblGrid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Pair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Users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Slot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U3, U6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SCMA(Sparse Codebook)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U1, U2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PD-NOMA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U0, U8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PD-NOMA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914400" y="5876925"/>
            <a:ext cx="164592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User pairing: The GNN selects suitable pairs of users.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Slot assignment: The system chooses a time slot for each pair.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Slot rule: Only one allocation is allowed per slot. Unused slots remain empty.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Unpaired users: Users without a pair are served individually using OMA.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Comparison with Existing Methods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9855200" cy="4445000"/>
        </p:xfrm>
        <a:graphic>
          <a:graphicData uri="http://schemas.openxmlformats.org/drawingml/2006/table">
            <a:tbl>
              <a:tblPr/>
              <a:tblGrid>
                <a:gridCol w="3632046"/>
                <a:gridCol w="2553665"/>
                <a:gridCol w="1834745"/>
                <a:gridCol w="1834745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Sum rate (Mbps)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Fairness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Outage (%)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GNN pairing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00000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17.69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0.529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10.00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19.49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0.335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50.40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pairing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16.04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0.526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1.60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Near-far pairing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16.29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0.508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2.20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Greedy pairing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16.75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11.00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Optimization reference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16.59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0.523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6.40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142983" y="2181863"/>
            <a:ext cx="6243323" cy="4780283"/>
            <a:chOff x="0" y="0"/>
            <a:chExt cx="8324431" cy="63737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24469" cy="6373749"/>
            </a:xfrm>
            <a:custGeom>
              <a:avLst/>
              <a:gdLst/>
              <a:ahLst/>
              <a:cxnLst/>
              <a:rect r="r" b="b" t="t" l="l"/>
              <a:pathLst>
                <a:path h="6373749" w="8324469">
                  <a:moveTo>
                    <a:pt x="0" y="0"/>
                  </a:moveTo>
                  <a:lnTo>
                    <a:pt x="8324469" y="0"/>
                  </a:lnTo>
                  <a:lnTo>
                    <a:pt x="8324469" y="6373749"/>
                  </a:lnTo>
                  <a:lnTo>
                    <a:pt x="0" y="6373749"/>
                  </a:lnTo>
                  <a:close/>
                </a:path>
              </a:pathLst>
            </a:custGeom>
            <a:solidFill>
              <a:srgbClr val="F4F8FE"/>
            </a:solidFill>
            <a:ln w="25400" cap="sq">
              <a:solidFill>
                <a:srgbClr val="1F6FEB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55680" y="2194560"/>
            <a:ext cx="6217920" cy="4754880"/>
            <a:chOff x="0" y="0"/>
            <a:chExt cx="8290560" cy="6339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90560" cy="6339840"/>
            </a:xfrm>
            <a:custGeom>
              <a:avLst/>
              <a:gdLst/>
              <a:ahLst/>
              <a:cxnLst/>
              <a:rect r="r" b="b" t="t" l="l"/>
              <a:pathLst>
                <a:path h="63398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114" t="0" r="-4811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290560" cy="6406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sum_rate_benchmark.png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results/figures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7431405"/>
            <a:ext cx="16459200" cy="207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results/metrics/benchmark_results.csv (mean over test topologies)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Classical regressors (Linear, Ridge, Lasso, Tree, Random Forest) predict rate only; they are not pairing methods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69600" y="2263188"/>
            <a:ext cx="7261053" cy="4376372"/>
            <a:chOff x="0" y="0"/>
            <a:chExt cx="7329424" cy="44175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9424" cy="4417581"/>
            </a:xfrm>
            <a:custGeom>
              <a:avLst/>
              <a:gdLst/>
              <a:ahLst/>
              <a:cxnLst/>
              <a:rect r="r" b="b" t="t" l="l"/>
              <a:pathLst>
                <a:path h="4417581" w="7329424">
                  <a:moveTo>
                    <a:pt x="0" y="0"/>
                  </a:moveTo>
                  <a:lnTo>
                    <a:pt x="7329424" y="0"/>
                  </a:lnTo>
                  <a:lnTo>
                    <a:pt x="7329424" y="4417581"/>
                  </a:lnTo>
                  <a:lnTo>
                    <a:pt x="0" y="441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6" t="0" r="-226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1827" y="1311522"/>
            <a:ext cx="13638370" cy="7364720"/>
          </a:xfrm>
          <a:custGeom>
            <a:avLst/>
            <a:gdLst/>
            <a:ahLst/>
            <a:cxnLst/>
            <a:rect r="r" b="b" t="t" l="l"/>
            <a:pathLst>
              <a:path h="7364720" w="13638370">
                <a:moveTo>
                  <a:pt x="0" y="0"/>
                </a:moveTo>
                <a:lnTo>
                  <a:pt x="13638370" y="0"/>
                </a:lnTo>
                <a:lnTo>
                  <a:pt x="13638370" y="7364720"/>
                </a:lnTo>
                <a:lnTo>
                  <a:pt x="0" y="7364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and Discussion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8737600" cy="4445000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  <a:gridCol w="2184400"/>
                <a:gridCol w="2184400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SNR (dB)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Rate (Mbps)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0.4342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0.6400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3.95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0.3717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0.5433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9.56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0.2942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0.4200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18.06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0.1625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0.2450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26.24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0.0417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0.0600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31.39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0.0033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0.0050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i="true">
                          <a:solidFill>
                            <a:srgbClr val="C2410C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33.75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0241280" y="2194560"/>
            <a:ext cx="7132320" cy="640080"/>
            <a:chOff x="0" y="0"/>
            <a:chExt cx="9509760" cy="853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95097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6F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Discussion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41280" y="2859405"/>
            <a:ext cx="7132320" cy="646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Best method per metric: state after the run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Whether GNN approaches the optimization reference: [run]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SCMA BER and SER trend with SNR: [run]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are simulated, not field data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7132320"/>
            <a:ext cx="8778240" cy="731520"/>
            <a:chOff x="0" y="0"/>
            <a:chExt cx="1170432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04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7043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SCMA table: standalone MPA sweep, 100 blocks per SNR.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72579" y="825410"/>
            <a:ext cx="12355461" cy="8185493"/>
          </a:xfrm>
          <a:custGeom>
            <a:avLst/>
            <a:gdLst/>
            <a:ahLst/>
            <a:cxnLst/>
            <a:rect r="r" b="b" t="t" l="l"/>
            <a:pathLst>
              <a:path h="8185493" w="12355461">
                <a:moveTo>
                  <a:pt x="0" y="0"/>
                </a:moveTo>
                <a:lnTo>
                  <a:pt x="12355461" y="0"/>
                </a:lnTo>
                <a:lnTo>
                  <a:pt x="12355461" y="8185493"/>
                </a:lnTo>
                <a:lnTo>
                  <a:pt x="0" y="8185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and Future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03120"/>
            <a:ext cx="7863840" cy="640080"/>
            <a:chOff x="0" y="0"/>
            <a:chExt cx="1048512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4851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DB8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767965"/>
            <a:ext cx="7863840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Implemented: edge-aware GNN pairing and slot preference, hybrid PD-NOMA / SCMA scheduling, five baselines, SCMA 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 is synthetic unless a CSV is supplied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09760" y="2103120"/>
            <a:ext cx="7863840" cy="640080"/>
            <a:chOff x="0" y="0"/>
            <a:chExt cx="104851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4851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DB8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09760" y="2767965"/>
            <a:ext cx="786384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 channel datasets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scheduling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 and Thank You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156460"/>
            <a:ext cx="16459200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[1] Y. Saito et al., “Non-orthogonal multiple access (NOMA) for cellular future radio access,” IEEE VTC Spring, 2013.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[2] H. Nikopour and H. Baligh, “Sparse code multiple access,” IEEE PIMRC, 2013.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[3] L. Dai et al., “Non-orthogonal multiple access for 5G: Solutions, challenges, opportunities, and future research trends,” IEEE Communications Magazine, 2015.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[4] Z. Ding et al., “A survey on non-orthogonal multiple access for 5G networks: Research challenges and future trends,” IEEE Journal on Selected Areas in Communications, 2017.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9FB"/>
                </a:solidFill>
                <a:latin typeface="Calibri (MS)"/>
                <a:ea typeface="Calibri (MS)"/>
                <a:cs typeface="Calibri (MS)"/>
                <a:sym typeface="Calibri (MS)"/>
              </a:rPr>
              <a:t>[5] T. N. Kipf and M. Welling, “Semi-supervised classification with graph convolutional networks,” International Conference on Learning Representations (ICLR), 2017.</a:t>
            </a:r>
          </a:p>
          <a:p>
            <a:pPr algn="l">
              <a:lnSpc>
                <a:spcPts val="28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559303" y="7302503"/>
            <a:ext cx="9169403" cy="1854203"/>
            <a:chOff x="0" y="0"/>
            <a:chExt cx="12225871" cy="2472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5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12225782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12028043" y="0"/>
                  </a:lnTo>
                  <a:cubicBezTo>
                    <a:pt x="12137263" y="0"/>
                    <a:pt x="12225782" y="88519"/>
                    <a:pt x="12225782" y="197739"/>
                  </a:cubicBezTo>
                  <a:lnTo>
                    <a:pt x="12225782" y="2274443"/>
                  </a:lnTo>
                  <a:cubicBezTo>
                    <a:pt x="12225782" y="2383663"/>
                    <a:pt x="12137263" y="2472182"/>
                    <a:pt x="12028043" y="2472182"/>
                  </a:cubicBezTo>
                  <a:lnTo>
                    <a:pt x="197739" y="2472182"/>
                  </a:lnTo>
                  <a:cubicBezTo>
                    <a:pt x="88519" y="2472309"/>
                    <a:pt x="0" y="2383663"/>
                    <a:pt x="0" y="2274443"/>
                  </a:cubicBezTo>
                  <a:close/>
                </a:path>
              </a:pathLst>
            </a:custGeom>
            <a:solidFill>
              <a:srgbClr val="1F6FEB"/>
            </a:solidFill>
            <a:ln w="25400" cap="sq">
              <a:solidFill>
                <a:srgbClr val="1F6F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663440" y="7315200"/>
            <a:ext cx="8961120" cy="1828800"/>
            <a:chOff x="0" y="0"/>
            <a:chExt cx="1194816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481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194816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DAHYB8ZDJao</dc:identifier>
  <dcterms:modified xsi:type="dcterms:W3CDTF">2011-08-01T06:04:30Z</dcterms:modified>
  <cp:revision>1</cp:revision>
  <dc:title>ML_G10_Final_PPT</dc:title>
</cp:coreProperties>
</file>